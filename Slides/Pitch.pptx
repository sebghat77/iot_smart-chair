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8" r:id="rId13"/>
    <p:sldId id="269" r:id="rId14"/>
    <p:sldId id="264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B3D"/>
    <a:srgbClr val="F0F4F8"/>
    <a:srgbClr val="028090"/>
    <a:srgbClr val="00A896"/>
    <a:srgbClr val="B2B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62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65-9A4D-9CDC-32B9285F1D1E}"/>
              </c:ext>
            </c:extLst>
          </c:dPt>
          <c:dPt>
            <c:idx val="1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65-9A4D-9CDC-32B9285F1D1E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65-9A4D-9CDC-32B9285F1D1E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65-9A4D-9CDC-32B9285F1D1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de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65-9A4D-9CDC-32B9285F1D1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de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65-9A4D-9CDC-32B9285F1D1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de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65-9A4D-9CDC-32B9285F1D1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de-D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65-9A4D-9CDC-32B9285F1D1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de-D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Sensors</c:v>
                </c:pt>
                <c:pt idx="1">
                  <c:v>MCU</c:v>
                </c:pt>
                <c:pt idx="2">
                  <c:v>Modules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65-9A4D-9CDC-32B9285F1D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13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18BD-EB3C-980A-C511-54B81B5C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B2CB1-4F32-A05B-B6B8-39917A780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4ABE4-10BB-084C-9297-778979141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9A3C9-9174-C3BF-98C7-D9C13F2D3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58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54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689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645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537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870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724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0023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3983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523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1361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6192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86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899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19329" y="-1280160"/>
            <a:ext cx="4572000" cy="4572000"/>
          </a:xfrm>
          <a:prstGeom prst="line">
            <a:avLst/>
          </a:prstGeom>
          <a:solidFill>
            <a:srgbClr val="1223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Smart-Chair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Posture Monitoring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0292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· Summer Term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Breyer  ·  Sebghatullah Yarzada  ·  Arturo Olivares  ·  Reza Falahatkar  ·  Atena Mahrooghi</a:t>
            </a:r>
            <a:endParaRPr lang="en-US" sz="11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89BB8DC-FEEA-F112-86F6-FA4984BBA13F}"/>
              </a:ext>
            </a:extLst>
          </p:cNvPr>
          <p:cNvSpPr/>
          <p:nvPr/>
        </p:nvSpPr>
        <p:spPr>
          <a:xfrm>
            <a:off x="548640" y="388789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Write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Matrikelnummer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here… </a:t>
            </a:r>
            <a:endParaRPr lang="en-US" sz="11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78E080-24B5-C627-1394-52F2FC9C82AC}"/>
              </a:ext>
            </a:extLst>
          </p:cNvPr>
          <p:cNvSpPr/>
          <p:nvPr/>
        </p:nvSpPr>
        <p:spPr>
          <a:xfrm>
            <a:off x="6278617" y="295487"/>
            <a:ext cx="1353312" cy="17099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D2BEF8-6AA0-C442-0E80-8449DF79D77C}"/>
              </a:ext>
            </a:extLst>
          </p:cNvPr>
          <p:cNvSpPr/>
          <p:nvPr/>
        </p:nvSpPr>
        <p:spPr>
          <a:xfrm rot="1127503">
            <a:off x="5976865" y="1789059"/>
            <a:ext cx="292608" cy="105156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EF6A19-CFB3-F689-BFBC-260F36E1B9CA}"/>
              </a:ext>
            </a:extLst>
          </p:cNvPr>
          <p:cNvSpPr/>
          <p:nvPr/>
        </p:nvSpPr>
        <p:spPr>
          <a:xfrm rot="20532277">
            <a:off x="7662647" y="1801369"/>
            <a:ext cx="292608" cy="105156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Prozessor mit einfarbiger Füllung">
            <a:extLst>
              <a:ext uri="{FF2B5EF4-FFF2-40B4-BE49-F238E27FC236}">
                <a16:creationId xmlns:a16="http://schemas.microsoft.com/office/drawing/2014/main" id="{7BA5B1FD-E37F-1EF3-1ED2-F102128ED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0019" y="860045"/>
            <a:ext cx="574604" cy="574604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0B30CD15-672C-5BE8-92D4-91DFE6AE7F49}"/>
              </a:ext>
            </a:extLst>
          </p:cNvPr>
          <p:cNvSpPr/>
          <p:nvPr/>
        </p:nvSpPr>
        <p:spPr>
          <a:xfrm>
            <a:off x="6179127" y="2185416"/>
            <a:ext cx="1556388" cy="1243584"/>
          </a:xfrm>
          <a:prstGeom prst="ellipse">
            <a:avLst/>
          </a:prstGeom>
          <a:noFill/>
          <a:ln w="38100">
            <a:solidFill>
              <a:schemeClr val="tx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Does This Matter?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office workers sit 6–10 hours per day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posture develops unconsciously over time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consequences: neck, shoulder &amp; back pain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0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smart-chair solutions cost thousands of Euros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493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trackers compromise user privacy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8" name="Text 11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low-cost, privacy-friendly posture monitoring system using embedded IoT sensors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974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26791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Camera-free &amp; privacy-safe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36392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311810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(~200 €)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7530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3557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via buzzer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14216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57800" y="3995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ergonomic analytics</a:t>
            </a:r>
            <a:endParaRPr lang="en-US" sz="1200" dirty="0"/>
          </a:p>
        </p:txBody>
      </p:sp>
      <p:pic>
        <p:nvPicPr>
          <p:cNvPr id="28" name="Picture 25" descr="A person holding his back&#10;&#10;AI-generated content may be incorrect.">
            <a:extLst>
              <a:ext uri="{FF2B5EF4-FFF2-40B4-BE49-F238E27FC236}">
                <a16:creationId xmlns:a16="http://schemas.microsoft.com/office/drawing/2014/main" id="{32065537-D52B-26AE-1040-9A78094180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95" t="2337" r="9032" b="2"/>
          <a:stretch>
            <a:fillRect/>
          </a:stretch>
        </p:blipFill>
        <p:spPr>
          <a:xfrm>
            <a:off x="4754880" y="960120"/>
            <a:ext cx="4228378" cy="349300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9E5BB2E-8D84-CCDE-D0A9-9EDF68DCA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941832"/>
            <a:ext cx="4228546" cy="37905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Smart-Chair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5156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Multi-point FSR pressure sensors map pelvic balance and lean offsets across the seat cushion.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534924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Slouch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0060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IR-based ToF distance sensors track upper-back and head positioning in real time via the backrest.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2"/>
          <p:cNvSpPr/>
          <p:nvPr/>
        </p:nvSpPr>
        <p:spPr>
          <a:xfrm>
            <a:off x="105156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sensors detect user presence and inactivity throughout the day for activity patterns.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6"/>
          <p:cNvSpPr/>
          <p:nvPr/>
        </p:nvSpPr>
        <p:spPr>
          <a:xfrm>
            <a:off x="534924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0060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gentle audio warnings when bad sitting posture is detected for more than 5 minutes — no cameras.</a:t>
            </a:r>
            <a:endParaRPr lang="en-US" sz="11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CC25F0-AF1B-2A52-92E9-8E6F06F509E3}"/>
              </a:ext>
            </a:extLst>
          </p:cNvPr>
          <p:cNvSpPr>
            <a:spLocks noChangeAspect="1"/>
          </p:cNvSpPr>
          <p:nvPr/>
        </p:nvSpPr>
        <p:spPr>
          <a:xfrm>
            <a:off x="502920" y="1064404"/>
            <a:ext cx="432000" cy="431511"/>
          </a:xfrm>
          <a:prstGeom prst="ellipse">
            <a:avLst/>
          </a:prstGeom>
          <a:solidFill>
            <a:srgbClr val="0280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07682C4-B8FA-5862-4B22-0578ECCD7973}"/>
              </a:ext>
            </a:extLst>
          </p:cNvPr>
          <p:cNvSpPr>
            <a:spLocks noChangeAspect="1"/>
          </p:cNvSpPr>
          <p:nvPr/>
        </p:nvSpPr>
        <p:spPr>
          <a:xfrm>
            <a:off x="4800600" y="1064404"/>
            <a:ext cx="432000" cy="431511"/>
          </a:xfrm>
          <a:prstGeom prst="ellipse">
            <a:avLst/>
          </a:prstGeom>
          <a:solidFill>
            <a:srgbClr val="0280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C343AF-8603-A1BD-105A-530273EE916B}"/>
              </a:ext>
            </a:extLst>
          </p:cNvPr>
          <p:cNvSpPr>
            <a:spLocks noChangeAspect="1"/>
          </p:cNvSpPr>
          <p:nvPr/>
        </p:nvSpPr>
        <p:spPr>
          <a:xfrm>
            <a:off x="502920" y="2852056"/>
            <a:ext cx="432000" cy="431511"/>
          </a:xfrm>
          <a:prstGeom prst="ellipse">
            <a:avLst/>
          </a:prstGeom>
          <a:solidFill>
            <a:srgbClr val="0280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E21E93-E2EB-6635-9757-6C4EE8E6365A}"/>
              </a:ext>
            </a:extLst>
          </p:cNvPr>
          <p:cNvSpPr>
            <a:spLocks noChangeAspect="1"/>
          </p:cNvSpPr>
          <p:nvPr/>
        </p:nvSpPr>
        <p:spPr>
          <a:xfrm>
            <a:off x="4800600" y="2852055"/>
            <a:ext cx="432000" cy="431511"/>
          </a:xfrm>
          <a:prstGeom prst="ellipse">
            <a:avLst/>
          </a:prstGeom>
          <a:solidFill>
            <a:srgbClr val="0280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9" name="Grafik 28" descr="Gewichte ungleich mit einfarbiger Füllung">
            <a:extLst>
              <a:ext uri="{FF2B5EF4-FFF2-40B4-BE49-F238E27FC236}">
                <a16:creationId xmlns:a16="http://schemas.microsoft.com/office/drawing/2014/main" id="{246653F2-C12F-252D-1E8E-F73EDE7349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609" y="1082421"/>
            <a:ext cx="404622" cy="404622"/>
          </a:xfrm>
          <a:prstGeom prst="rect">
            <a:avLst/>
          </a:prstGeom>
        </p:spPr>
      </p:pic>
      <p:pic>
        <p:nvPicPr>
          <p:cNvPr id="31" name="Grafik 30" descr="Glocke mit einfarbiger Füllung">
            <a:extLst>
              <a:ext uri="{FF2B5EF4-FFF2-40B4-BE49-F238E27FC236}">
                <a16:creationId xmlns:a16="http://schemas.microsoft.com/office/drawing/2014/main" id="{5C296565-9B32-3EBC-3B8A-85FD790C5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1486" y="2833549"/>
            <a:ext cx="411480" cy="411480"/>
          </a:xfrm>
          <a:prstGeom prst="rect">
            <a:avLst/>
          </a:prstGeom>
        </p:spPr>
      </p:pic>
      <p:pic>
        <p:nvPicPr>
          <p:cNvPr id="33" name="Grafik 32" descr="Balkendiagramm mit einfarbiger Füllung">
            <a:extLst>
              <a:ext uri="{FF2B5EF4-FFF2-40B4-BE49-F238E27FC236}">
                <a16:creationId xmlns:a16="http://schemas.microsoft.com/office/drawing/2014/main" id="{6761D5E9-60A6-0792-3085-7C18524F7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611" y="2878261"/>
            <a:ext cx="368075" cy="368075"/>
          </a:xfrm>
          <a:prstGeom prst="rect">
            <a:avLst/>
          </a:prstGeom>
        </p:spPr>
      </p:pic>
      <p:pic>
        <p:nvPicPr>
          <p:cNvPr id="35" name="Grafik 34" descr="Lupe mit einfarbiger Füllung">
            <a:extLst>
              <a:ext uri="{FF2B5EF4-FFF2-40B4-BE49-F238E27FC236}">
                <a16:creationId xmlns:a16="http://schemas.microsoft.com/office/drawing/2014/main" id="{975F2E27-6A21-4F84-FBAE-C37080C8E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3980" y="1107539"/>
            <a:ext cx="345240" cy="345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2">
            <a:extLst>
              <a:ext uri="{FF2B5EF4-FFF2-40B4-BE49-F238E27FC236}">
                <a16:creationId xmlns:a16="http://schemas.microsoft.com/office/drawing/2014/main" id="{78647468-C8C5-5F8D-59B8-704E9BA41D6A}"/>
              </a:ext>
            </a:extLst>
          </p:cNvPr>
          <p:cNvSpPr/>
          <p:nvPr/>
        </p:nvSpPr>
        <p:spPr>
          <a:xfrm>
            <a:off x="3657600" y="966978"/>
            <a:ext cx="1417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Overview &amp;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966978"/>
            <a:ext cx="1417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20040" y="104013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56133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· IR-ToF · PIR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690116"/>
            <a:ext cx="1417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920240" y="17632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ESP32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22844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 ·  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NOW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954530"/>
            <a:ext cx="1417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40680" y="202768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Python API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40680" y="254889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MQTT</a:t>
            </a:r>
            <a:endParaRPr lang="en-US" sz="900" dirty="0">
              <a:solidFill>
                <a:srgbClr val="00A896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69480" y="1954530"/>
            <a:ext cx="1417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269480" y="202768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Dashboard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69480" y="254889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Timestamps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8902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57200" y="3634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is collected and processed in real-time. If poor posture is detected for an extended period, a buzzer alert is activated and the event is logged for further analysis.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0919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sensors collect pressure, distance &amp; motion continuously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40919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processes raw data locally with threshold logic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77640" y="40919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fires after sustained bad posture detected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40919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 transmits structured JSON over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40919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 analyses posture &amp; manages alerts</a:t>
            </a:r>
            <a:endParaRPr lang="en-US" sz="9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BE3B3301-AFB2-EA8C-E589-45E39385F9B2}"/>
              </a:ext>
            </a:extLst>
          </p:cNvPr>
          <p:cNvSpPr/>
          <p:nvPr/>
        </p:nvSpPr>
        <p:spPr>
          <a:xfrm>
            <a:off x="320040" y="2377440"/>
            <a:ext cx="14173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7529451-9060-63C3-1446-2146C7F5B5EE}"/>
              </a:ext>
            </a:extLst>
          </p:cNvPr>
          <p:cNvSpPr/>
          <p:nvPr/>
        </p:nvSpPr>
        <p:spPr>
          <a:xfrm>
            <a:off x="320040" y="24505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191EC257-E026-9751-3F34-CA7E2DBD191E}"/>
              </a:ext>
            </a:extLst>
          </p:cNvPr>
          <p:cNvSpPr/>
          <p:nvPr/>
        </p:nvSpPr>
        <p:spPr>
          <a:xfrm>
            <a:off x="320040" y="2971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· IR-</a:t>
            </a:r>
            <a:r>
              <a:rPr lang="en-US" sz="90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</a:t>
            </a: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pic>
        <p:nvPicPr>
          <p:cNvPr id="39" name="Grafik 38" descr="Arbeiten von zu Hause Schreibtisch mit einfarbiger Füllung">
            <a:extLst>
              <a:ext uri="{FF2B5EF4-FFF2-40B4-BE49-F238E27FC236}">
                <a16:creationId xmlns:a16="http://schemas.microsoft.com/office/drawing/2014/main" id="{4CD5E6F9-21AE-5965-D5CF-FCC55B8B9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420" y="2446020"/>
            <a:ext cx="502920" cy="502920"/>
          </a:xfrm>
          <a:prstGeom prst="rect">
            <a:avLst/>
          </a:prstGeom>
        </p:spPr>
      </p:pic>
      <p:pic>
        <p:nvPicPr>
          <p:cNvPr id="41" name="Grafik 40" descr="Regisseurstuhl mit einfarbiger Füllung">
            <a:extLst>
              <a:ext uri="{FF2B5EF4-FFF2-40B4-BE49-F238E27FC236}">
                <a16:creationId xmlns:a16="http://schemas.microsoft.com/office/drawing/2014/main" id="{4E8A8B55-B273-BAA2-CA29-74AF65603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932" y="1106219"/>
            <a:ext cx="418543" cy="418543"/>
          </a:xfrm>
          <a:prstGeom prst="rect">
            <a:avLst/>
          </a:prstGeom>
        </p:spPr>
      </p:pic>
      <p:cxnSp>
        <p:nvCxnSpPr>
          <p:cNvPr id="45" name="Gewinkelte Verbindung 44">
            <a:extLst>
              <a:ext uri="{FF2B5EF4-FFF2-40B4-BE49-F238E27FC236}">
                <a16:creationId xmlns:a16="http://schemas.microsoft.com/office/drawing/2014/main" id="{C8A6DEEF-24C4-4228-A138-B38450DD7E9D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1737360" y="1291590"/>
            <a:ext cx="891540" cy="398526"/>
          </a:xfrm>
          <a:prstGeom prst="bentConnector2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B6A80827-5F6E-94EB-F1FB-B4669EF85D86}"/>
              </a:ext>
            </a:extLst>
          </p:cNvPr>
          <p:cNvCxnSpPr>
            <a:cxnSpLocks/>
            <a:stCxn id="37" idx="3"/>
            <a:endCxn id="9" idx="2"/>
          </p:cNvCxnSpPr>
          <p:nvPr/>
        </p:nvCxnSpPr>
        <p:spPr>
          <a:xfrm flipV="1">
            <a:off x="1737360" y="2604516"/>
            <a:ext cx="891540" cy="495300"/>
          </a:xfrm>
          <a:prstGeom prst="bentConnector2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fik 58" descr="Prozessor mit einfarbiger Füllung">
            <a:extLst>
              <a:ext uri="{FF2B5EF4-FFF2-40B4-BE49-F238E27FC236}">
                <a16:creationId xmlns:a16="http://schemas.microsoft.com/office/drawing/2014/main" id="{9505035D-9053-61D0-CBE8-B21E04B7B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1770" y="1766316"/>
            <a:ext cx="495300" cy="495300"/>
          </a:xfrm>
          <a:prstGeom prst="rect">
            <a:avLst/>
          </a:prstGeom>
        </p:spPr>
      </p:pic>
      <p:sp>
        <p:nvSpPr>
          <p:cNvPr id="61" name="Text 18">
            <a:extLst>
              <a:ext uri="{FF2B5EF4-FFF2-40B4-BE49-F238E27FC236}">
                <a16:creationId xmlns:a16="http://schemas.microsoft.com/office/drawing/2014/main" id="{34D79F2C-C037-DEDC-5580-26590537C660}"/>
              </a:ext>
            </a:extLst>
          </p:cNvPr>
          <p:cNvSpPr/>
          <p:nvPr/>
        </p:nvSpPr>
        <p:spPr>
          <a:xfrm>
            <a:off x="3657600" y="104013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pic>
        <p:nvPicPr>
          <p:cNvPr id="62" name="Grafik 61" descr="Glocke mit einfarbiger Füllung">
            <a:extLst>
              <a:ext uri="{FF2B5EF4-FFF2-40B4-BE49-F238E27FC236}">
                <a16:creationId xmlns:a16="http://schemas.microsoft.com/office/drawing/2014/main" id="{BAA0662F-7A6A-8A84-649F-A9A8A632F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1021842"/>
            <a:ext cx="502920" cy="502920"/>
          </a:xfrm>
          <a:prstGeom prst="rect">
            <a:avLst/>
          </a:prstGeom>
        </p:spPr>
      </p:pic>
      <p:sp>
        <p:nvSpPr>
          <p:cNvPr id="63" name="Text 19">
            <a:extLst>
              <a:ext uri="{FF2B5EF4-FFF2-40B4-BE49-F238E27FC236}">
                <a16:creationId xmlns:a16="http://schemas.microsoft.com/office/drawing/2014/main" id="{A0BF7912-0426-8519-E4DD-9E63D9ED41E8}"/>
              </a:ext>
            </a:extLst>
          </p:cNvPr>
          <p:cNvSpPr/>
          <p:nvPr/>
        </p:nvSpPr>
        <p:spPr>
          <a:xfrm>
            <a:off x="3657600" y="15615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900" dirty="0"/>
          </a:p>
        </p:txBody>
      </p:sp>
      <p:cxnSp>
        <p:nvCxnSpPr>
          <p:cNvPr id="64" name="Gewinkelte Verbindung 63">
            <a:extLst>
              <a:ext uri="{FF2B5EF4-FFF2-40B4-BE49-F238E27FC236}">
                <a16:creationId xmlns:a16="http://schemas.microsoft.com/office/drawing/2014/main" id="{BD883A59-66A0-FE70-D9E0-D5C793E96B7D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3337560" y="1881378"/>
            <a:ext cx="1028700" cy="297180"/>
          </a:xfrm>
          <a:prstGeom prst="bentConnector2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98A48DD3-BDEB-1FF0-3BAF-331CD57D2C5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337560" y="2411730"/>
            <a:ext cx="2103120" cy="762"/>
          </a:xfrm>
          <a:prstGeom prst="straightConnector1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fik 80" descr="Synchronisierende Cloud mit einfarbiger Füllung">
            <a:extLst>
              <a:ext uri="{FF2B5EF4-FFF2-40B4-BE49-F238E27FC236}">
                <a16:creationId xmlns:a16="http://schemas.microsoft.com/office/drawing/2014/main" id="{1691A2D2-40EA-F9AC-0B57-43545EB0E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3640" y="2036825"/>
            <a:ext cx="502921" cy="502921"/>
          </a:xfrm>
          <a:prstGeom prst="rect">
            <a:avLst/>
          </a:prstGeom>
        </p:spPr>
      </p:pic>
      <p:pic>
        <p:nvPicPr>
          <p:cNvPr id="83" name="Grafik 82" descr="Messgerät mit einfarbiger Füllung">
            <a:extLst>
              <a:ext uri="{FF2B5EF4-FFF2-40B4-BE49-F238E27FC236}">
                <a16:creationId xmlns:a16="http://schemas.microsoft.com/office/drawing/2014/main" id="{ABC93A03-EC63-D63C-5F1D-55688C58E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1556" y="2038859"/>
            <a:ext cx="504688" cy="504688"/>
          </a:xfrm>
          <a:prstGeom prst="rect">
            <a:avLst/>
          </a:prstGeom>
        </p:spPr>
      </p:pic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49BE3469-BDF0-FEE3-60EB-4D7556EB7AE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858000" y="2407158"/>
            <a:ext cx="411480" cy="4572"/>
          </a:xfrm>
          <a:prstGeom prst="straightConnector1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4">
            <a:extLst>
              <a:ext uri="{FF2B5EF4-FFF2-40B4-BE49-F238E27FC236}">
                <a16:creationId xmlns:a16="http://schemas.microsoft.com/office/drawing/2014/main" id="{669B7407-CBA6-C71C-3BC7-6EBCBFA824B2}"/>
              </a:ext>
            </a:extLst>
          </p:cNvPr>
          <p:cNvSpPr/>
          <p:nvPr/>
        </p:nvSpPr>
        <p:spPr>
          <a:xfrm>
            <a:off x="3611880" y="24348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>
              <a:solidFill>
                <a:srgbClr val="00A89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 System &amp; Placement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6616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Sensors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distribution · Weight shifting · Asymmetric sitting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seat area + 2x backrest area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56616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Sensors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 position · Backrest distance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backrest area for back/head distance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356616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detection · Leg movement tracking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under-seat PIR sensor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DESK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38404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0060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Sensors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7190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support position · Leaning on desk edge detection</a:t>
            </a:r>
          </a:p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desk area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384048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Sensors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724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Screen-to-user distance measurement · Head distance from monitor</a:t>
            </a:r>
          </a:p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desk area </a:t>
            </a:r>
          </a:p>
        </p:txBody>
      </p:sp>
      <p:sp>
        <p:nvSpPr>
          <p:cNvPr id="26" name="Text 24"/>
          <p:cNvSpPr/>
          <p:nvPr/>
        </p:nvSpPr>
        <p:spPr>
          <a:xfrm>
            <a:off x="480060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730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Posture Detection Logic — IF / THEN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(Condition)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904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ea typeface="Calibri"/>
                <a:cs typeface="Calibri"/>
              </a:rPr>
              <a:t>IF pelvic pressure distribution is uneven (leaning sideways/forward)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176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head/upper-back  distance from backrest is unhealthy (slouching) 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803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8620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sits too long without any movement detected (sedentary state) 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661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combined sensor data indicates poor posture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7" name="Text 11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(Response)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9240" y="14904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buzzer — immediate audio alert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9456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49240" y="2176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8036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49240" y="2862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 with timestamp &amp; sensor values</a:t>
            </a:r>
            <a:endParaRPr lang="en-US" sz="11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66160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4924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MQTT notification to computer  &amp;</a:t>
            </a:r>
          </a:p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posture warning on screen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Bad posture sustained for prolonged period of time! (e.g.  more than 10 minutes)</a:t>
            </a:r>
            <a:endParaRPr lang="en-US" sz="10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4DF11FF-3E08-A3B9-B46C-38043556445F}"/>
              </a:ext>
            </a:extLst>
          </p:cNvPr>
          <p:cNvSpPr/>
          <p:nvPr/>
        </p:nvSpPr>
        <p:spPr>
          <a:xfrm>
            <a:off x="534924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buzzer — immediate audio alert</a:t>
            </a:r>
            <a:endParaRPr lang="en-US" sz="1150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F430D83A-F53C-8D2C-86A4-A4B0ED050B77}"/>
              </a:ext>
            </a:extLst>
          </p:cNvPr>
          <p:cNvCxnSpPr>
            <a:stCxn id="4" idx="3"/>
            <a:endCxn id="16" idx="1"/>
          </p:cNvCxnSpPr>
          <p:nvPr/>
        </p:nvCxnSpPr>
        <p:spPr>
          <a:xfrm>
            <a:off x="4297680" y="2697480"/>
            <a:ext cx="548640" cy="0"/>
          </a:xfrm>
          <a:prstGeom prst="straightConnector1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Flow &amp;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04672" y="886968"/>
            <a:ext cx="12344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04672" y="88696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9112" y="1060704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313432" y="886968"/>
            <a:ext cx="12344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313432" y="88696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47872" y="1060704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822192" y="886968"/>
            <a:ext cx="12344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822192" y="88696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60704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330952" y="886968"/>
            <a:ext cx="12344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30952" y="88696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65392" y="1060704"/>
            <a:ext cx="274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839712" y="886968"/>
            <a:ext cx="12344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839712" y="88696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60020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5688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" y="20574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Movement sensor readings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146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4672" y="2496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 values</a:t>
            </a:r>
            <a:endParaRPr lang="en-US" sz="11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3512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04672" y="29352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distance readings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92424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4672" y="3374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31336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4672" y="3813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events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754880" y="160020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7"/>
          <p:cNvSpPr/>
          <p:nvPr/>
        </p:nvSpPr>
        <p:spPr>
          <a:xfrm>
            <a:off x="475488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7568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12080" y="20574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classification status</a:t>
            </a:r>
            <a:endParaRPr lang="en-US" sz="11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78608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212080" y="2560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sitting duration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81528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212080" y="3063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frequency trends</a:t>
            </a:r>
            <a:endParaRPr lang="en-US" sz="11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84448"/>
            <a:ext cx="228600" cy="2286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212080" y="3566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improvement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Expected User Interface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754880" cy="640080"/>
          </a:xfrm>
          <a:prstGeom prst="rect">
            <a:avLst/>
          </a:prstGeom>
          <a:solidFill>
            <a:srgbClr val="0A4F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Status: GOOD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286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12min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Sitting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2286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926080" y="2267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Posture Events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2286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cm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Distance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0" y="3200400"/>
            <a:ext cx="2286000" cy="868680"/>
          </a:xfrm>
          <a:prstGeom prst="rect">
            <a:avLst/>
          </a:prstGeom>
          <a:solidFill>
            <a:srgbClr val="1A2F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926080" y="32735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2608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914400"/>
            <a:ext cx="3200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57784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17320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71032" y="13990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posture status (Good / Warning / Bad)</a:t>
            </a:r>
            <a:endParaRPr lang="en-US" sz="10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94767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71032" y="1929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screen distance in cm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47802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71032" y="24597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sitting time statistics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971032" y="2990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971032" y="3520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Roadmap &amp; Phase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Core System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8105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core sensor system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231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FSR &amp; IR-ToF sensors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999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local processing &amp; ESP-NOW/MQTT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593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buzzer alert from ESP32 directly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754880" y="914400"/>
            <a:ext cx="402336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1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75488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&amp; Analysis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2880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18105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user monitoring dashboard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2316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2080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ea typeface="Calibri"/>
                <a:cs typeface="Calibri"/>
              </a:rPr>
              <a:t>Refine sensor filtering algorithms to minimize false-positive buzzer alerts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01752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29992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ea typeface="Calibri"/>
                <a:cs typeface="Calibri"/>
              </a:rPr>
              <a:t>Implement data logging for short-term posture history</a:t>
            </a:r>
            <a:endParaRPr lang="en-US" sz="11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61188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3593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App-based notifications </a:t>
            </a:r>
            <a:r>
              <a:rPr lang="en-US" sz="1150" dirty="0">
                <a:solidFill>
                  <a:srgbClr val="0C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historical data tracking</a:t>
            </a:r>
            <a:endParaRPr lang="en-US" sz="1150" dirty="0">
              <a:solidFill>
                <a:srgbClr val="0C1B3D"/>
              </a:solidFill>
            </a:endParaRP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7782F24-BD9F-5D1C-0625-A83F8EC1C96F}"/>
              </a:ext>
            </a:extLst>
          </p:cNvPr>
          <p:cNvCxnSpPr>
            <a:stCxn id="4" idx="3"/>
            <a:endCxn id="16" idx="1"/>
          </p:cNvCxnSpPr>
          <p:nvPr/>
        </p:nvCxnSpPr>
        <p:spPr>
          <a:xfrm>
            <a:off x="4389120" y="2697480"/>
            <a:ext cx="365760" cy="0"/>
          </a:xfrm>
          <a:prstGeom prst="straightConnector1">
            <a:avLst/>
          </a:prstGeom>
          <a:ln w="76200">
            <a:solidFill>
              <a:srgbClr val="028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Components &amp; Budget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200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Budget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5603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(FSR + ToF) — 45%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256032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22960" y="3026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(ESP32) — 25%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22960" y="34655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Others — 20%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22776"/>
            <a:ext cx="25603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22960" y="3904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(e.g. adapters) — 10%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011638329"/>
              </p:ext>
            </p:extLst>
          </p:nvPr>
        </p:nvGraphicFramePr>
        <p:xfrm>
          <a:off x="3749040" y="91440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 Roles &amp; Responsibilities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914400"/>
            <a:ext cx="25603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834640" y="914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 Area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914400"/>
            <a:ext cx="3383280" cy="384048"/>
          </a:xfrm>
          <a:prstGeom prst="rect">
            <a:avLst/>
          </a:prstGeom>
          <a:solidFill>
            <a:srgbClr val="1A40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0" y="914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743200" y="1298448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94960" y="1298448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1344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Atena Mahrooghi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34640" y="1344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Communication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3441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slides, storyboarding, problem mapping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228600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743200" y="2029968"/>
            <a:ext cx="256032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394960" y="2029968"/>
            <a:ext cx="338328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7200" y="207568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Breyer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20756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Logic &amp; Calibration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0756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design, thresholding, sensor calibration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761488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2743200" y="2761488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94960" y="2761488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57200" y="280720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Arturo Olivares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34640" y="28072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MQTT Pipelines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80720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messaging, networking, desktop Python 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93008"/>
            <a:ext cx="228600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2743200" y="3493008"/>
            <a:ext cx="256032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5394960" y="3493008"/>
            <a:ext cx="338328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57200" y="35387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Sebghatullah Yarzada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35387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Wiring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5387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sourcing, sensor mounting, circuit diagrams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2743200" y="4224528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5394960" y="4224528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57200" y="42702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 Falahatkar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42702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Dashboard Design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427024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analysis/ visualization, movement logging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line">
            <a:avLst/>
          </a:prstGeom>
          <a:solidFill>
            <a:srgbClr val="1223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lin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Smart-Chair · Intelligent Posture Monitoring System · Summer Term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Breyer · Sebghatullah Yarzada · Arturo Olivares · Reza Falahatkar · Atena Mahrooghi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92D12-DD5D-D6C6-35BC-817E3DDF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6D7329-DAFB-03A8-2A23-44F84CC1024E}"/>
              </a:ext>
            </a:extLst>
          </p:cNvPr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Hardware Components &amp; BOM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6BA6F9-1EF8-3667-C9DE-72575E14B468}"/>
              </a:ext>
            </a:extLst>
          </p:cNvPr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0BC97358-FD36-6483-7413-0C6B1C8D2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9043"/>
              </p:ext>
            </p:extLst>
          </p:nvPr>
        </p:nvGraphicFramePr>
        <p:xfrm>
          <a:off x="521208" y="840377"/>
          <a:ext cx="6263640" cy="395020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(€)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Chair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stool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FSR Pressure Sensor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Interlink 30-81794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Digikey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Iduino SE047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Joy-it SBC-NodeMCU-ESP32-C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 Motion Sensor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Joy-it SEN-HC-SR501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ToF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Distance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STEMMA QT VL53L4CD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Digikey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 Set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 Components assortment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Joy-it 830-pin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40-pin Dupont set 20cm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USB-C Cables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USB-A to USB-C data cable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Foam/Cushion (Opt.)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590×390×10mm foam layer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Conrad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1" name="Textfeld 30">
            <a:extLst>
              <a:ext uri="{FF2B5EF4-FFF2-40B4-BE49-F238E27FC236}">
                <a16:creationId xmlns:a16="http://schemas.microsoft.com/office/drawing/2014/main" id="{800376FA-630E-A6F6-2861-73C6A2F08E8C}"/>
              </a:ext>
            </a:extLst>
          </p:cNvPr>
          <p:cNvSpPr txBox="1"/>
          <p:nvPr/>
        </p:nvSpPr>
        <p:spPr>
          <a:xfrm>
            <a:off x="6784848" y="1153885"/>
            <a:ext cx="2359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Total </a:t>
            </a:r>
            <a:r>
              <a:rPr lang="de-DE" b="1" dirty="0" err="1">
                <a:solidFill>
                  <a:schemeClr val="bg1"/>
                </a:solidFill>
              </a:rPr>
              <a:t>Cost</a:t>
            </a:r>
            <a:r>
              <a:rPr lang="de-DE" b="1" dirty="0">
                <a:solidFill>
                  <a:schemeClr val="bg1"/>
                </a:solidFill>
              </a:rPr>
              <a:t>: </a:t>
            </a:r>
          </a:p>
          <a:p>
            <a:r>
              <a:rPr lang="de-DE" dirty="0">
                <a:solidFill>
                  <a:schemeClr val="bg1"/>
                </a:solidFill>
              </a:rPr>
              <a:t>	   </a:t>
            </a:r>
            <a:r>
              <a:rPr lang="de-DE" u="sng" dirty="0">
                <a:solidFill>
                  <a:schemeClr val="bg1"/>
                </a:solidFill>
              </a:rPr>
              <a:t>203,93 EUR</a:t>
            </a:r>
          </a:p>
        </p:txBody>
      </p:sp>
    </p:spTree>
    <p:extLst>
      <p:ext uri="{BB962C8B-B14F-4D97-AF65-F5344CB8AC3E}">
        <p14:creationId xmlns:p14="http://schemas.microsoft.com/office/powerpoint/2010/main" val="16214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IR-ToF Instead of Cameras?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0467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914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40680" y="914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IR-ToF Sensor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3441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Captures images/video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3441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Distance values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0467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Image recognition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8745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threshold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59152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40487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High — not ESP32-friendly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40487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— runs on ESP32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80467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57200" y="29352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93522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Large (MB per frame)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93522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Lightweight (bytes)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57200" y="34655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46557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Bulky, external device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46557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Compact, embeds in furniture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8046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Reliable posture estimation without collecting any visual data — fully privacy-preserving.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1023</Words>
  <Application>Microsoft Macintosh PowerPoint</Application>
  <PresentationFormat>Bildschirmpräsentation (16:9)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2013 – 2022-Design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Smart-Chair</dc:title>
  <dc:subject>PptxGenJS Presentation</dc:subject>
  <dc:creator>PptxGenJS</dc:creator>
  <cp:lastModifiedBy>Michael Breyer</cp:lastModifiedBy>
  <cp:revision>4</cp:revision>
  <dcterms:created xsi:type="dcterms:W3CDTF">2026-06-01T21:48:48Z</dcterms:created>
  <dcterms:modified xsi:type="dcterms:W3CDTF">2026-06-02T12:53:32Z</dcterms:modified>
</cp:coreProperties>
</file>